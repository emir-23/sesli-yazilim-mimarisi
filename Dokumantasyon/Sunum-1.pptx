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5" r:id="rId5"/>
    <p:sldId id="259" r:id="rId6"/>
    <p:sldId id="260" r:id="rId7"/>
    <p:sldId id="261" r:id="rId8"/>
    <p:sldId id="262" r:id="rId9"/>
    <p:sldId id="264" r:id="rId10"/>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6CCA30-6765-4F8E-83AA-1F98D0477BDF}" v="120" dt="2026-03-25T17:35:28.168"/>
    <p1510:client id="{BA464D7B-6B11-4343-A1B7-981609D07983}" v="37" dt="2026-03-26T11:21:25.1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86" d="100"/>
          <a:sy n="86" d="100"/>
        </p:scale>
        <p:origin x="6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ed Emir Demirtaş" userId="28cdd7537ad037cf" providerId="Windows Live" clId="Web-{1B6CCA30-6765-4F8E-83AA-1F98D0477BDF}"/>
    <pc:docChg chg="addSld delSld modSld">
      <pc:chgData name="Muhammed Emir Demirtaş" userId="28cdd7537ad037cf" providerId="Windows Live" clId="Web-{1B6CCA30-6765-4F8E-83AA-1F98D0477BDF}" dt="2026-03-25T17:32:28.706" v="19"/>
      <pc:docMkLst>
        <pc:docMk/>
      </pc:docMkLst>
      <pc:sldChg chg="modSp new">
        <pc:chgData name="Muhammed Emir Demirtaş" userId="28cdd7537ad037cf" providerId="Windows Live" clId="Web-{1B6CCA30-6765-4F8E-83AA-1F98D0477BDF}" dt="2026-03-25T17:11:37.485" v="11" actId="1076"/>
        <pc:sldMkLst>
          <pc:docMk/>
          <pc:sldMk cId="1046712464" sldId="256"/>
        </pc:sldMkLst>
        <pc:spChg chg="mod">
          <ac:chgData name="Muhammed Emir Demirtaş" userId="28cdd7537ad037cf" providerId="Windows Live" clId="Web-{1B6CCA30-6765-4F8E-83AA-1F98D0477BDF}" dt="2026-03-25T17:11:37.485" v="11" actId="1076"/>
          <ac:spMkLst>
            <pc:docMk/>
            <pc:sldMk cId="1046712464" sldId="256"/>
            <ac:spMk id="3" creationId="{64FF26F4-677F-2E0F-6304-5A2EB5970679}"/>
          </ac:spMkLst>
        </pc:spChg>
      </pc:sldChg>
      <pc:sldChg chg="modSp del mod setBg">
        <pc:chgData name="Muhammed Emir Demirtaş" userId="28cdd7537ad037cf" providerId="Windows Live" clId="Web-{1B6CCA30-6765-4F8E-83AA-1F98D0477BDF}" dt="2026-03-25T17:08:41.161" v="4"/>
        <pc:sldMkLst>
          <pc:docMk/>
          <pc:sldMk cId="1674425800" sldId="256"/>
        </pc:sldMkLst>
        <pc:spChg chg="mod">
          <ac:chgData name="Muhammed Emir Demirtaş" userId="28cdd7537ad037cf" providerId="Windows Live" clId="Web-{1B6CCA30-6765-4F8E-83AA-1F98D0477BDF}" dt="2026-03-25T17:07:38.410" v="3" actId="14100"/>
          <ac:spMkLst>
            <pc:docMk/>
            <pc:sldMk cId="1674425800" sldId="256"/>
            <ac:spMk id="3" creationId="{00000000-0000-0000-0000-000000000000}"/>
          </ac:spMkLst>
        </pc:spChg>
      </pc:sldChg>
      <pc:sldChg chg="new">
        <pc:chgData name="Muhammed Emir Demirtaş" userId="28cdd7537ad037cf" providerId="Windows Live" clId="Web-{1B6CCA30-6765-4F8E-83AA-1F98D0477BDF}" dt="2026-03-25T17:11:41.985" v="12"/>
        <pc:sldMkLst>
          <pc:docMk/>
          <pc:sldMk cId="638197256" sldId="257"/>
        </pc:sldMkLst>
      </pc:sldChg>
      <pc:sldChg chg="new del mod setBg">
        <pc:chgData name="Muhammed Emir Demirtaş" userId="28cdd7537ad037cf" providerId="Windows Live" clId="Web-{1B6CCA30-6765-4F8E-83AA-1F98D0477BDF}" dt="2026-03-25T17:09:15.193" v="6"/>
        <pc:sldMkLst>
          <pc:docMk/>
          <pc:sldMk cId="3263754277" sldId="257"/>
        </pc:sldMkLst>
      </pc:sldChg>
      <pc:sldChg chg="new">
        <pc:chgData name="Muhammed Emir Demirtaş" userId="28cdd7537ad037cf" providerId="Windows Live" clId="Web-{1B6CCA30-6765-4F8E-83AA-1F98D0477BDF}" dt="2026-03-25T17:15:11.619" v="13"/>
        <pc:sldMkLst>
          <pc:docMk/>
          <pc:sldMk cId="2966504544" sldId="258"/>
        </pc:sldMkLst>
      </pc:sldChg>
      <pc:sldChg chg="new">
        <pc:chgData name="Muhammed Emir Demirtaş" userId="28cdd7537ad037cf" providerId="Windows Live" clId="Web-{1B6CCA30-6765-4F8E-83AA-1F98D0477BDF}" dt="2026-03-25T17:29:32.331" v="16"/>
        <pc:sldMkLst>
          <pc:docMk/>
          <pc:sldMk cId="3177362526" sldId="259"/>
        </pc:sldMkLst>
      </pc:sldChg>
      <pc:sldChg chg="new del">
        <pc:chgData name="Muhammed Emir Demirtaş" userId="28cdd7537ad037cf" providerId="Windows Live" clId="Web-{1B6CCA30-6765-4F8E-83AA-1F98D0477BDF}" dt="2026-03-25T17:29:24.815" v="15"/>
        <pc:sldMkLst>
          <pc:docMk/>
          <pc:sldMk cId="3465747133" sldId="259"/>
        </pc:sldMkLst>
      </pc:sldChg>
      <pc:sldChg chg="new">
        <pc:chgData name="Muhammed Emir Demirtaş" userId="28cdd7537ad037cf" providerId="Windows Live" clId="Web-{1B6CCA30-6765-4F8E-83AA-1F98D0477BDF}" dt="2026-03-25T17:29:36.362" v="17"/>
        <pc:sldMkLst>
          <pc:docMk/>
          <pc:sldMk cId="2889128452" sldId="260"/>
        </pc:sldMkLst>
      </pc:sldChg>
      <pc:sldChg chg="new">
        <pc:chgData name="Muhammed Emir Demirtaş" userId="28cdd7537ad037cf" providerId="Windows Live" clId="Web-{1B6CCA30-6765-4F8E-83AA-1F98D0477BDF}" dt="2026-03-25T17:32:27.721" v="18"/>
        <pc:sldMkLst>
          <pc:docMk/>
          <pc:sldMk cId="101797878" sldId="261"/>
        </pc:sldMkLst>
      </pc:sldChg>
      <pc:sldChg chg="new">
        <pc:chgData name="Muhammed Emir Demirtaş" userId="28cdd7537ad037cf" providerId="Windows Live" clId="Web-{1B6CCA30-6765-4F8E-83AA-1F98D0477BDF}" dt="2026-03-25T17:32:28.706" v="19"/>
        <pc:sldMkLst>
          <pc:docMk/>
          <pc:sldMk cId="3036171822" sldId="262"/>
        </pc:sldMkLst>
      </pc:sldChg>
    </pc:docChg>
  </pc:docChgLst>
  <pc:docChgLst>
    <pc:chgData name="Muhammed Emir Demirtaş" userId="28cdd7537ad037cf" providerId="Windows Live" clId="Web-{BA464D7B-6B11-4343-A1B7-981609D07983}"/>
    <pc:docChg chg="addSld delSld modSld">
      <pc:chgData name="Muhammed Emir Demirtaş" userId="28cdd7537ad037cf" providerId="Windows Live" clId="Web-{BA464D7B-6B11-4343-A1B7-981609D07983}" dt="2026-03-26T11:19:27.640" v="6"/>
      <pc:docMkLst>
        <pc:docMk/>
      </pc:docMkLst>
      <pc:sldChg chg="new del">
        <pc:chgData name="Muhammed Emir Demirtaş" userId="28cdd7537ad037cf" providerId="Windows Live" clId="Web-{BA464D7B-6B11-4343-A1B7-981609D07983}" dt="2026-03-26T10:48:20.857" v="2"/>
        <pc:sldMkLst>
          <pc:docMk/>
          <pc:sldMk cId="2036487690" sldId="263"/>
        </pc:sldMkLst>
      </pc:sldChg>
      <pc:sldChg chg="addSp modSp new">
        <pc:chgData name="Muhammed Emir Demirtaş" userId="28cdd7537ad037cf" providerId="Windows Live" clId="Web-{BA464D7B-6B11-4343-A1B7-981609D07983}" dt="2026-03-26T10:51:08.957" v="5" actId="14100"/>
        <pc:sldMkLst>
          <pc:docMk/>
          <pc:sldMk cId="2162650648" sldId="264"/>
        </pc:sldMkLst>
        <pc:picChg chg="add mod">
          <ac:chgData name="Muhammed Emir Demirtaş" userId="28cdd7537ad037cf" providerId="Windows Live" clId="Web-{BA464D7B-6B11-4343-A1B7-981609D07983}" dt="2026-03-26T10:51:08.957" v="5" actId="14100"/>
          <ac:picMkLst>
            <pc:docMk/>
            <pc:sldMk cId="2162650648" sldId="264"/>
            <ac:picMk id="2" creationId="{EBC469D0-BAB0-1FE4-43DC-7AA15F1B063A}"/>
          </ac:picMkLst>
        </pc:picChg>
      </pc:sldChg>
      <pc:sldChg chg="new">
        <pc:chgData name="Muhammed Emir Demirtaş" userId="28cdd7537ad037cf" providerId="Windows Live" clId="Web-{BA464D7B-6B11-4343-A1B7-981609D07983}" dt="2026-03-26T11:19:27.640" v="6"/>
        <pc:sldMkLst>
          <pc:docMk/>
          <pc:sldMk cId="762535571" sldId="26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26.03.2026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44099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26.03.2026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944319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26.03.2026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1196833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E2072480-10DA-4FB4-BEAE-2A1DEA90F248}" type="datetimeFigureOut">
              <a:rPr lang="tr-TR" smtClean="0"/>
              <a:t>26.03.2026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652797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E2072480-10DA-4FB4-BEAE-2A1DEA90F248}" type="datetimeFigureOut">
              <a:rPr lang="tr-TR" smtClean="0"/>
              <a:t>26.03.2026</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6744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E2072480-10DA-4FB4-BEAE-2A1DEA90F248}" type="datetimeFigureOut">
              <a:rPr lang="tr-TR" smtClean="0"/>
              <a:t>26.03.2026</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86148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E2072480-10DA-4FB4-BEAE-2A1DEA90F248}" type="datetimeFigureOut">
              <a:rPr lang="tr-TR" smtClean="0"/>
              <a:t>26.03.2026</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419981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26.03.2026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70091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26.03.2026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18175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26.03.2026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787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26.03.2026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04856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072480-10DA-4FB4-BEAE-2A1DEA90F248}" type="datetimeFigureOut">
              <a:rPr lang="tr-TR" smtClean="0"/>
              <a:t>26.03.2026</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0A84BC-3F9E-4B08-9743-FC4E27FA5126}" type="slidenum">
              <a:rPr lang="tr-TR" smtClean="0"/>
              <a:t>‹#›</a:t>
            </a:fld>
            <a:endParaRPr lang="tr-TR"/>
          </a:p>
        </p:txBody>
      </p:sp>
    </p:spTree>
    <p:extLst>
      <p:ext uri="{BB962C8B-B14F-4D97-AF65-F5344CB8AC3E}">
        <p14:creationId xmlns:p14="http://schemas.microsoft.com/office/powerpoint/2010/main" val="3712468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12D7B66-5D5E-6B3E-42A6-13286EAE4D58}"/>
              </a:ext>
            </a:extLst>
          </p:cNvPr>
          <p:cNvSpPr>
            <a:spLocks noGrp="1"/>
          </p:cNvSpPr>
          <p:nvPr>
            <p:ph type="title"/>
          </p:nvPr>
        </p:nvSpPr>
        <p:spPr/>
        <p:txBody>
          <a:bodyPr/>
          <a:lstStyle/>
          <a:p>
            <a:r>
              <a:rPr lang="tr-TR" sz="3600" b="1" dirty="0">
                <a:ea typeface="+mj-lt"/>
                <a:cs typeface="+mj-lt"/>
              </a:rPr>
              <a:t>Proje Adı:</a:t>
            </a:r>
            <a:r>
              <a:rPr lang="tr-TR" dirty="0">
                <a:ea typeface="+mj-lt"/>
                <a:cs typeface="+mj-lt"/>
              </a:rPr>
              <a:t> </a:t>
            </a:r>
            <a:r>
              <a:rPr lang="tr-TR" sz="3600">
                <a:ea typeface="+mj-lt"/>
                <a:cs typeface="+mj-lt"/>
              </a:rPr>
              <a:t>Yapay Zeka Destekli Otonom UML Asistanı</a:t>
            </a:r>
            <a:endParaRPr lang="tr-TR" sz="3600"/>
          </a:p>
        </p:txBody>
      </p:sp>
      <p:sp>
        <p:nvSpPr>
          <p:cNvPr id="3" name="İçerik Yer Tutucusu 2">
            <a:extLst>
              <a:ext uri="{FF2B5EF4-FFF2-40B4-BE49-F238E27FC236}">
                <a16:creationId xmlns:a16="http://schemas.microsoft.com/office/drawing/2014/main" id="{64FF26F4-677F-2E0F-6304-5A2EB5970679}"/>
              </a:ext>
            </a:extLst>
          </p:cNvPr>
          <p:cNvSpPr>
            <a:spLocks noGrp="1"/>
          </p:cNvSpPr>
          <p:nvPr>
            <p:ph idx="1"/>
          </p:nvPr>
        </p:nvSpPr>
        <p:spPr>
          <a:xfrm>
            <a:off x="838199" y="1861568"/>
            <a:ext cx="8294299" cy="4351338"/>
          </a:xfrm>
        </p:spPr>
        <p:txBody>
          <a:bodyPr vert="horz" lIns="91440" tIns="45720" rIns="91440" bIns="45720" rtlCol="0" anchor="t">
            <a:normAutofit/>
          </a:bodyPr>
          <a:lstStyle/>
          <a:p>
            <a:pPr marL="0" indent="0"/>
            <a:r>
              <a:rPr lang="tr-TR" b="1">
                <a:ea typeface="+mn-lt"/>
                <a:cs typeface="+mn-lt"/>
              </a:rPr>
              <a:t>Proje Ekibi:</a:t>
            </a:r>
            <a:endParaRPr lang="tr-TR"/>
          </a:p>
          <a:p>
            <a:r>
              <a:rPr lang="tr-TR">
                <a:ea typeface="+mn-lt"/>
                <a:cs typeface="+mn-lt"/>
              </a:rPr>
              <a:t>Muhammed Emir Demirtaş</a:t>
            </a:r>
            <a:endParaRPr lang="tr-TR"/>
          </a:p>
          <a:p>
            <a:r>
              <a:rPr lang="tr-TR">
                <a:ea typeface="+mn-lt"/>
                <a:cs typeface="+mn-lt"/>
              </a:rPr>
              <a:t>Hüseyin Altıparmak</a:t>
            </a:r>
            <a:endParaRPr lang="tr-TR"/>
          </a:p>
          <a:p>
            <a:r>
              <a:rPr lang="tr-TR">
                <a:ea typeface="+mn-lt"/>
                <a:cs typeface="+mn-lt"/>
              </a:rPr>
              <a:t>Zıd Alkhanı</a:t>
            </a:r>
            <a:endParaRPr lang="tr-TR"/>
          </a:p>
          <a:p>
            <a:r>
              <a:rPr lang="tr-TR">
                <a:ea typeface="+mn-lt"/>
                <a:cs typeface="+mn-lt"/>
              </a:rPr>
              <a:t>Emir Avcı</a:t>
            </a:r>
            <a:endParaRPr lang="tr-TR"/>
          </a:p>
          <a:p>
            <a:endParaRPr lang="tr-TR" dirty="0"/>
          </a:p>
        </p:txBody>
      </p:sp>
    </p:spTree>
    <p:extLst>
      <p:ext uri="{BB962C8B-B14F-4D97-AF65-F5344CB8AC3E}">
        <p14:creationId xmlns:p14="http://schemas.microsoft.com/office/powerpoint/2010/main" val="1046712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817262F-D8F8-0655-9816-47EBD010B663}"/>
              </a:ext>
            </a:extLst>
          </p:cNvPr>
          <p:cNvSpPr>
            <a:spLocks noGrp="1"/>
          </p:cNvSpPr>
          <p:nvPr>
            <p:ph type="title"/>
          </p:nvPr>
        </p:nvSpPr>
        <p:spPr/>
        <p:txBody>
          <a:bodyPr>
            <a:normAutofit/>
          </a:bodyPr>
          <a:lstStyle/>
          <a:p>
            <a:r>
              <a:rPr lang="tr-TR" sz="3600" b="1">
                <a:latin typeface="Aptos"/>
              </a:rPr>
              <a:t>Problem Tanımı</a:t>
            </a:r>
            <a:endParaRPr lang="tr-TR"/>
          </a:p>
        </p:txBody>
      </p:sp>
      <p:sp>
        <p:nvSpPr>
          <p:cNvPr id="3" name="İçerik Yer Tutucusu 2">
            <a:extLst>
              <a:ext uri="{FF2B5EF4-FFF2-40B4-BE49-F238E27FC236}">
                <a16:creationId xmlns:a16="http://schemas.microsoft.com/office/drawing/2014/main" id="{3504AC80-ABF9-7D8A-882D-EBEEFE00A031}"/>
              </a:ext>
            </a:extLst>
          </p:cNvPr>
          <p:cNvSpPr>
            <a:spLocks noGrp="1"/>
          </p:cNvSpPr>
          <p:nvPr>
            <p:ph idx="1"/>
          </p:nvPr>
        </p:nvSpPr>
        <p:spPr/>
        <p:txBody>
          <a:bodyPr vert="horz" lIns="91440" tIns="45720" rIns="91440" bIns="45720" rtlCol="0" anchor="t">
            <a:normAutofit lnSpcReduction="10000"/>
          </a:bodyPr>
          <a:lstStyle/>
          <a:p>
            <a:pPr marL="0" indent="0">
              <a:buNone/>
            </a:pPr>
            <a:endParaRPr lang="tr-TR" dirty="0"/>
          </a:p>
          <a:p>
            <a:r>
              <a:rPr lang="tr-TR" b="1">
                <a:ea typeface="+mn-lt"/>
                <a:cs typeface="+mn-lt"/>
              </a:rPr>
              <a:t>Süreç Verimsizliği:</a:t>
            </a:r>
            <a:r>
              <a:rPr lang="tr-TR">
                <a:ea typeface="+mn-lt"/>
                <a:cs typeface="+mn-lt"/>
              </a:rPr>
              <a:t> Yazılım mimarisi planlama ve UML diyagramı oluşturma süreçlerinin manuel yürütülmesi, ekipler için ciddi zaman ve efor kaybına neden olmaktadır.</a:t>
            </a:r>
            <a:endParaRPr lang="tr-TR"/>
          </a:p>
          <a:p>
            <a:r>
              <a:rPr lang="tr-TR" b="1">
                <a:ea typeface="+mn-lt"/>
                <a:cs typeface="+mn-lt"/>
              </a:rPr>
              <a:t>Veri Kaybı ve İletişim Kopukluğu:</a:t>
            </a:r>
            <a:r>
              <a:rPr lang="tr-TR">
                <a:ea typeface="+mn-lt"/>
                <a:cs typeface="+mn-lt"/>
              </a:rPr>
              <a:t> Toplantılarda alınan kritik mimari kararların anında dokümante edilememesi, ilerleyen kodlama aşamalarında mantıksal hatalara yol açmaktadır.</a:t>
            </a:r>
            <a:endParaRPr lang="tr-TR"/>
          </a:p>
          <a:p>
            <a:r>
              <a:rPr lang="tr-TR">
                <a:ea typeface="+mn-lt"/>
                <a:cs typeface="+mn-lt"/>
              </a:rPr>
              <a:t>Bir projeye başlarken ekipçe masaya oturup sistemin iskeletini çıkarıyoruz. Fakat bu kararları manuel olarak UML diyagramlarına çevirmek hem saatlerimizi alıyor hem de toplantıdaki bazı önemli detayların koda dökülmeden unutulmasına yol açıyor.</a:t>
            </a:r>
            <a:endParaRPr lang="tr-TR" dirty="0"/>
          </a:p>
        </p:txBody>
      </p:sp>
    </p:spTree>
    <p:extLst>
      <p:ext uri="{BB962C8B-B14F-4D97-AF65-F5344CB8AC3E}">
        <p14:creationId xmlns:p14="http://schemas.microsoft.com/office/powerpoint/2010/main" val="638197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E00DE48-249F-26B9-38C7-BED7B2A4DD0B}"/>
              </a:ext>
            </a:extLst>
          </p:cNvPr>
          <p:cNvSpPr>
            <a:spLocks noGrp="1"/>
          </p:cNvSpPr>
          <p:nvPr>
            <p:ph type="title"/>
          </p:nvPr>
        </p:nvSpPr>
        <p:spPr/>
        <p:txBody>
          <a:bodyPr/>
          <a:lstStyle/>
          <a:p>
            <a:r>
              <a:rPr lang="tr-TR" b="1">
                <a:ea typeface="+mj-lt"/>
                <a:cs typeface="+mj-lt"/>
              </a:rPr>
              <a:t> Çözüm Yaklaşımımız (Proje Kapsamı)</a:t>
            </a:r>
            <a:endParaRPr lang="tr-TR" b="1"/>
          </a:p>
        </p:txBody>
      </p:sp>
      <p:sp>
        <p:nvSpPr>
          <p:cNvPr id="3" name="İçerik Yer Tutucusu 2">
            <a:extLst>
              <a:ext uri="{FF2B5EF4-FFF2-40B4-BE49-F238E27FC236}">
                <a16:creationId xmlns:a16="http://schemas.microsoft.com/office/drawing/2014/main" id="{6577B07E-70BE-47B6-AD35-8F434EF30B07}"/>
              </a:ext>
            </a:extLst>
          </p:cNvPr>
          <p:cNvSpPr>
            <a:spLocks noGrp="1"/>
          </p:cNvSpPr>
          <p:nvPr>
            <p:ph idx="1"/>
          </p:nvPr>
        </p:nvSpPr>
        <p:spPr/>
        <p:txBody>
          <a:bodyPr vert="horz" lIns="91440" tIns="45720" rIns="91440" bIns="45720" rtlCol="0" anchor="t">
            <a:noAutofit/>
          </a:bodyPr>
          <a:lstStyle/>
          <a:p>
            <a:pPr marL="0" indent="0"/>
            <a:r>
              <a:rPr lang="tr-TR" sz="2400" b="1">
                <a:ea typeface="+mn-lt"/>
                <a:cs typeface="+mn-lt"/>
              </a:rPr>
              <a:t>Sınırsız Veri Girişi (Omnichannel):</a:t>
            </a:r>
            <a:r>
              <a:rPr lang="tr-TR" sz="2400">
                <a:ea typeface="+mn-lt"/>
                <a:cs typeface="+mn-lt"/>
              </a:rPr>
              <a:t> WhatsApp geçmişi (.txt), toplantı   ses         kaydı (.mp3) veya platformumuzdaki Canlı Toplantı Odası  konuşmaları sisteme eşzamanlı olarak beslenebilir.</a:t>
            </a:r>
            <a:endParaRPr lang="tr-TR" sz="2400"/>
          </a:p>
          <a:p>
            <a:r>
              <a:rPr lang="tr-TR" sz="2400" b="1">
                <a:ea typeface="+mn-lt"/>
                <a:cs typeface="+mn-lt"/>
              </a:rPr>
              <a:t>Yapay Zeka Destekli Otonom Çizim:</a:t>
            </a:r>
            <a:r>
              <a:rPr lang="tr-TR" sz="2400">
                <a:ea typeface="+mn-lt"/>
                <a:cs typeface="+mn-lt"/>
              </a:rPr>
              <a:t> Toplanan bu veriler Gemini tarafından analiz edilir ve saniyeler içinde interaktif "Sınıf" veya "Kullanım Durumu" diyagramlarına dönüştürülür.</a:t>
            </a:r>
            <a:endParaRPr lang="tr-TR" sz="2400"/>
          </a:p>
          <a:p>
            <a:r>
              <a:rPr lang="tr-TR" sz="2400" b="1">
                <a:ea typeface="+mn-lt"/>
                <a:cs typeface="+mn-lt"/>
              </a:rPr>
              <a:t>Mimari Darboğaz (Bottleneck) Tespiti:</a:t>
            </a:r>
            <a:r>
              <a:rPr lang="tr-TR" sz="2400">
                <a:ea typeface="+mn-lt"/>
                <a:cs typeface="+mn-lt"/>
              </a:rPr>
              <a:t> Sistem sadece çizmekle kalmaz; şema üzerinde aşırı yük binen (çok fazla ilişki alan) sınıfları otonom olarak tespit eder ve turuncu renk koduyla geliştiriciyi olası performans çöküşlerine karşı önceden uyarır.</a:t>
            </a:r>
            <a:endParaRPr lang="tr-TR" sz="2400"/>
          </a:p>
          <a:p>
            <a:r>
              <a:rPr lang="tr-TR" sz="2400" b="1">
                <a:ea typeface="+mn-lt"/>
                <a:cs typeface="+mn-lt"/>
              </a:rPr>
              <a:t>Otomatik Görev Dağıtımı (Agile):</a:t>
            </a:r>
            <a:r>
              <a:rPr lang="tr-TR" sz="2400">
                <a:ea typeface="+mn-lt"/>
                <a:cs typeface="+mn-lt"/>
              </a:rPr>
              <a:t> Ortaya çıkan nihai mimari üzerinden, yazılım ekibi için koda dökülmeye hazır "Sprint (Görev)" listelerini otomatik olarak üretir.</a:t>
            </a:r>
            <a:endParaRPr lang="tr-TR" sz="2400"/>
          </a:p>
          <a:p>
            <a:endParaRPr lang="tr-TR" dirty="0"/>
          </a:p>
        </p:txBody>
      </p:sp>
    </p:spTree>
    <p:extLst>
      <p:ext uri="{BB962C8B-B14F-4D97-AF65-F5344CB8AC3E}">
        <p14:creationId xmlns:p14="http://schemas.microsoft.com/office/powerpoint/2010/main" val="2966504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351319E-B6A3-644B-CFC6-FFF3BA380248}"/>
              </a:ext>
            </a:extLst>
          </p:cNvPr>
          <p:cNvSpPr>
            <a:spLocks noGrp="1"/>
          </p:cNvSpPr>
          <p:nvPr>
            <p:ph type="title"/>
          </p:nvPr>
        </p:nvSpPr>
        <p:spPr/>
        <p:txBody>
          <a:bodyPr/>
          <a:lstStyle/>
          <a:p>
            <a:r>
              <a:rPr lang="tr-TR"/>
              <a:t>Çözüm Yaklaşımımız(Akış)</a:t>
            </a:r>
          </a:p>
        </p:txBody>
      </p:sp>
      <p:sp>
        <p:nvSpPr>
          <p:cNvPr id="3" name="İçerik Yer Tutucusu 2">
            <a:extLst>
              <a:ext uri="{FF2B5EF4-FFF2-40B4-BE49-F238E27FC236}">
                <a16:creationId xmlns:a16="http://schemas.microsoft.com/office/drawing/2014/main" id="{D59B1765-5FD1-3ADD-F2E6-0BA513B1746F}"/>
              </a:ext>
            </a:extLst>
          </p:cNvPr>
          <p:cNvSpPr>
            <a:spLocks noGrp="1"/>
          </p:cNvSpPr>
          <p:nvPr>
            <p:ph idx="1"/>
          </p:nvPr>
        </p:nvSpPr>
        <p:spPr/>
        <p:txBody>
          <a:bodyPr vert="horz" lIns="91440" tIns="45720" rIns="91440" bIns="45720" rtlCol="0" anchor="t">
            <a:normAutofit lnSpcReduction="10000"/>
          </a:bodyPr>
          <a:lstStyle/>
          <a:p>
            <a:pPr marL="0" indent="0">
              <a:buNone/>
            </a:pPr>
            <a:r>
              <a:rPr lang="tr-TR">
                <a:ea typeface="+mn-lt"/>
                <a:cs typeface="+mn-lt"/>
              </a:rPr>
              <a:t>   Konuştuğumuz ses kayıtlarını, WhatsApp'taki düz metin mesajlarını veya sitemiz üzerinden açtığımız canlı sesli odadaki konuşmaları sisteme veriyoruz. Arka plandaki yapay zeka bu dağınık verilerin hepsini saniyeler içinde okuyup anlıyor. </a:t>
            </a:r>
            <a:endParaRPr lang="tr-TR"/>
          </a:p>
          <a:p>
            <a:r>
              <a:rPr lang="tr-TR">
                <a:ea typeface="+mn-lt"/>
                <a:cs typeface="+mn-lt"/>
              </a:rPr>
              <a:t>Yapay zeka, toplantı verilerimizi analiz ettikten sonra, bizim yerimize otomatik olarak Sınıf veya Kullanım Durumu diyagramlarını ekrana çiziyor. Üstelik sistemimiz sadece diyagram çizmekle kalmıyor; eğer toplantıda mimari bir hata yapıp tek bir sınıfa çok fazla sorumluluk yüklersek, sistem bu durumu anında tespit ederek 'aşırı yüklenme' uyarısı veriyo. Son olarak da çizdiği bu UML diyagram (sprint) listesi çıkarıyor.</a:t>
            </a:r>
            <a:endParaRPr lang="tr-TR"/>
          </a:p>
        </p:txBody>
      </p:sp>
    </p:spTree>
    <p:extLst>
      <p:ext uri="{BB962C8B-B14F-4D97-AF65-F5344CB8AC3E}">
        <p14:creationId xmlns:p14="http://schemas.microsoft.com/office/powerpoint/2010/main" val="762535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416A98F-D94A-D6CD-BE60-CD2F703C5E27}"/>
              </a:ext>
            </a:extLst>
          </p:cNvPr>
          <p:cNvSpPr>
            <a:spLocks noGrp="1"/>
          </p:cNvSpPr>
          <p:nvPr>
            <p:ph type="title"/>
          </p:nvPr>
        </p:nvSpPr>
        <p:spPr/>
        <p:txBody>
          <a:bodyPr/>
          <a:lstStyle/>
          <a:p>
            <a:r>
              <a:rPr lang="tr-TR" sz="2800" b="1">
                <a:latin typeface="Aptos"/>
              </a:rPr>
              <a:t>2. Emir Avcı: Backend ve Ağ Altyapısı</a:t>
            </a:r>
            <a:endParaRPr lang="tr-TR"/>
          </a:p>
        </p:txBody>
      </p:sp>
      <p:sp>
        <p:nvSpPr>
          <p:cNvPr id="3" name="İçerik Yer Tutucusu 2">
            <a:extLst>
              <a:ext uri="{FF2B5EF4-FFF2-40B4-BE49-F238E27FC236}">
                <a16:creationId xmlns:a16="http://schemas.microsoft.com/office/drawing/2014/main" id="{2B768AA9-2050-911A-5E01-08CAC1E03C1B}"/>
              </a:ext>
            </a:extLst>
          </p:cNvPr>
          <p:cNvSpPr>
            <a:spLocks noGrp="1"/>
          </p:cNvSpPr>
          <p:nvPr>
            <p:ph idx="1"/>
          </p:nvPr>
        </p:nvSpPr>
        <p:spPr/>
        <p:txBody>
          <a:bodyPr vert="horz" lIns="91440" tIns="45720" rIns="91440" bIns="45720" rtlCol="0" anchor="t">
            <a:normAutofit/>
          </a:bodyPr>
          <a:lstStyle/>
          <a:p>
            <a:pPr marL="0" indent="0"/>
            <a:endParaRPr lang="tr-TR" b="1" dirty="0">
              <a:ea typeface="+mn-lt"/>
              <a:cs typeface="+mn-lt"/>
            </a:endParaRPr>
          </a:p>
          <a:p>
            <a:r>
              <a:rPr lang="tr-TR" b="1">
                <a:ea typeface="+mn-lt"/>
                <a:cs typeface="+mn-lt"/>
              </a:rPr>
              <a:t>Görevi:</a:t>
            </a:r>
            <a:r>
              <a:rPr lang="tr-TR">
                <a:ea typeface="+mn-lt"/>
                <a:cs typeface="+mn-lt"/>
              </a:rPr>
              <a:t> Sistemin ana motorunu (</a:t>
            </a:r>
            <a:r>
              <a:rPr lang="tr-TR" b="1">
                <a:ea typeface="+mn-lt"/>
                <a:cs typeface="+mn-lt"/>
              </a:rPr>
              <a:t>API</a:t>
            </a:r>
            <a:r>
              <a:rPr lang="tr-TR">
                <a:ea typeface="+mn-lt"/>
                <a:cs typeface="+mn-lt"/>
              </a:rPr>
              <a:t>) kurmak, veritabanı ilişkilerini tasarlamak ve gecikmesiz "Canlı Toplantı Odası" altyapısını oluşturmak.</a:t>
            </a:r>
          </a:p>
          <a:p>
            <a:r>
              <a:rPr lang="tr-TR" b="1">
                <a:ea typeface="+mn-lt"/>
                <a:cs typeface="+mn-lt"/>
              </a:rPr>
              <a:t>Kullandığı Teknolojiler:</a:t>
            </a:r>
            <a:endParaRPr lang="tr-TR">
              <a:ea typeface="+mn-lt"/>
              <a:cs typeface="+mn-lt"/>
            </a:endParaRPr>
          </a:p>
          <a:p>
            <a:pPr lvl="1"/>
            <a:r>
              <a:rPr lang="tr-TR" b="1">
                <a:ea typeface="+mn-lt"/>
                <a:cs typeface="+mn-lt"/>
              </a:rPr>
              <a:t>Laravel &amp; MySQL:</a:t>
            </a:r>
            <a:r>
              <a:rPr lang="tr-TR">
                <a:ea typeface="+mn-lt"/>
                <a:cs typeface="+mn-lt"/>
              </a:rPr>
              <a:t> Projenin iskeletini sağlam bir mimariyle (MVC) kurmak ve verileri güvenle saklamak için.</a:t>
            </a:r>
          </a:p>
          <a:p>
            <a:pPr lvl="1"/>
            <a:r>
              <a:rPr lang="tr-TR" b="1">
                <a:ea typeface="+mn-lt"/>
                <a:cs typeface="+mn-lt"/>
              </a:rPr>
              <a:t>WebRTC &amp; Socket.io:</a:t>
            </a:r>
            <a:r>
              <a:rPr lang="tr-TR">
                <a:ea typeface="+mn-lt"/>
                <a:cs typeface="+mn-lt"/>
              </a:rPr>
              <a:t> Sesli odalarda gecikmeyi sıfıra indirmek ve anlık iletişimi sağlamak için.</a:t>
            </a:r>
          </a:p>
          <a:p>
            <a:pPr marL="0" indent="0"/>
            <a:endParaRPr lang="tr-TR" dirty="0"/>
          </a:p>
          <a:p>
            <a:endParaRPr lang="tr-TR" dirty="0"/>
          </a:p>
        </p:txBody>
      </p:sp>
    </p:spTree>
    <p:extLst>
      <p:ext uri="{BB962C8B-B14F-4D97-AF65-F5344CB8AC3E}">
        <p14:creationId xmlns:p14="http://schemas.microsoft.com/office/powerpoint/2010/main" val="3177362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9CEEA07-CDC4-FE38-3158-897814B1F009}"/>
              </a:ext>
            </a:extLst>
          </p:cNvPr>
          <p:cNvSpPr>
            <a:spLocks noGrp="1"/>
          </p:cNvSpPr>
          <p:nvPr>
            <p:ph type="title"/>
          </p:nvPr>
        </p:nvSpPr>
        <p:spPr/>
        <p:txBody>
          <a:bodyPr/>
          <a:lstStyle/>
          <a:p>
            <a:r>
              <a:rPr lang="tr-TR" b="1">
                <a:ea typeface="+mj-lt"/>
                <a:cs typeface="+mj-lt"/>
              </a:rPr>
              <a:t>Kullanıcı Deneyimi (UX) ve Dinamik Tuval (Sunan: Hüseyin Altıparmak)</a:t>
            </a:r>
            <a:endParaRPr lang="tr-TR" b="1"/>
          </a:p>
        </p:txBody>
      </p:sp>
      <p:sp>
        <p:nvSpPr>
          <p:cNvPr id="3" name="İçerik Yer Tutucusu 2">
            <a:extLst>
              <a:ext uri="{FF2B5EF4-FFF2-40B4-BE49-F238E27FC236}">
                <a16:creationId xmlns:a16="http://schemas.microsoft.com/office/drawing/2014/main" id="{962DD90B-9CF9-905E-F69B-765ECE6B43CD}"/>
              </a:ext>
            </a:extLst>
          </p:cNvPr>
          <p:cNvSpPr>
            <a:spLocks noGrp="1"/>
          </p:cNvSpPr>
          <p:nvPr>
            <p:ph idx="1"/>
          </p:nvPr>
        </p:nvSpPr>
        <p:spPr/>
        <p:txBody>
          <a:bodyPr vert="horz" lIns="91440" tIns="45720" rIns="91440" bIns="45720" rtlCol="0" anchor="t">
            <a:normAutofit lnSpcReduction="10000"/>
          </a:bodyPr>
          <a:lstStyle/>
          <a:p>
            <a:pPr marL="0" indent="0"/>
            <a:r>
              <a:rPr lang="tr-TR" b="1">
                <a:ea typeface="+mn-lt"/>
                <a:cs typeface="+mn-lt"/>
              </a:rPr>
              <a:t>Görevi:</a:t>
            </a:r>
            <a:r>
              <a:rPr lang="tr-TR">
                <a:ea typeface="+mn-lt"/>
                <a:cs typeface="+mn-lt"/>
              </a:rPr>
              <a:t> Mühendisler için göz yormayan, erişilebilir </a:t>
            </a:r>
            <a:r>
              <a:rPr lang="tr-TR" b="1">
                <a:ea typeface="+mn-lt"/>
                <a:cs typeface="+mn-lt"/>
              </a:rPr>
              <a:t>"Koyu Teknoloji (Dark Tech)"</a:t>
            </a:r>
            <a:r>
              <a:rPr lang="tr-TR">
                <a:ea typeface="+mn-lt"/>
                <a:cs typeface="+mn-lt"/>
              </a:rPr>
              <a:t> arayüzünü tasarlamak ve yapay zekadan gelen ham verileri sürüklenebilir interaktif UML şemalarına dönüştürmek.</a:t>
            </a:r>
          </a:p>
          <a:p>
            <a:r>
              <a:rPr lang="tr-TR" b="1">
                <a:ea typeface="+mn-lt"/>
                <a:cs typeface="+mn-lt"/>
              </a:rPr>
              <a:t>Kullanılan Teknolojiler ve Seçim Nedenleri:</a:t>
            </a:r>
            <a:endParaRPr lang="tr-TR">
              <a:ea typeface="+mn-lt"/>
              <a:cs typeface="+mn-lt"/>
            </a:endParaRPr>
          </a:p>
          <a:p>
            <a:r>
              <a:rPr lang="tr-TR" b="1">
                <a:ea typeface="+mn-lt"/>
                <a:cs typeface="+mn-lt"/>
              </a:rPr>
              <a:t>React.js:</a:t>
            </a:r>
            <a:r>
              <a:rPr lang="tr-TR">
                <a:ea typeface="+mn-lt"/>
                <a:cs typeface="+mn-lt"/>
              </a:rPr>
              <a:t> Sayfa yenilenmesine gerek kalmadan (</a:t>
            </a:r>
            <a:r>
              <a:rPr lang="tr-TR" b="1">
                <a:ea typeface="+mn-lt"/>
                <a:cs typeface="+mn-lt"/>
              </a:rPr>
              <a:t>Single Page Application</a:t>
            </a:r>
            <a:r>
              <a:rPr lang="tr-TR">
                <a:ea typeface="+mn-lt"/>
                <a:cs typeface="+mn-lt"/>
              </a:rPr>
              <a:t>) pürüzsüz ve çok hızlı bir kullanıcı deneyimi sunmak için tercih edilmiştir.</a:t>
            </a:r>
          </a:p>
          <a:p>
            <a:r>
              <a:rPr lang="tr-TR" b="1">
                <a:ea typeface="+mn-lt"/>
                <a:cs typeface="+mn-lt"/>
              </a:rPr>
              <a:t>React Flow:</a:t>
            </a:r>
            <a:r>
              <a:rPr lang="tr-TR">
                <a:ea typeface="+mn-lt"/>
                <a:cs typeface="+mn-lt"/>
              </a:rPr>
              <a:t> Projenin kalbi olan </a:t>
            </a:r>
            <a:r>
              <a:rPr lang="tr-TR" b="1">
                <a:ea typeface="+mn-lt"/>
                <a:cs typeface="+mn-lt"/>
              </a:rPr>
              <a:t>"İnteraktif Tuval"</a:t>
            </a:r>
            <a:r>
              <a:rPr lang="tr-TR">
                <a:ea typeface="+mn-lt"/>
                <a:cs typeface="+mn-lt"/>
              </a:rPr>
              <a:t> yapısı için; yapay zekadan gelen ham verileri (JSON) dinamik UML kutucuklarına ve bağlantılarına dönüştüren en güçlü standart olduğu için seçilmiştir.</a:t>
            </a:r>
          </a:p>
          <a:p>
            <a:pPr marL="0" indent="0"/>
            <a:endParaRPr lang="tr-TR" dirty="0"/>
          </a:p>
          <a:p>
            <a:endParaRPr lang="tr-TR" dirty="0"/>
          </a:p>
        </p:txBody>
      </p:sp>
    </p:spTree>
    <p:extLst>
      <p:ext uri="{BB962C8B-B14F-4D97-AF65-F5344CB8AC3E}">
        <p14:creationId xmlns:p14="http://schemas.microsoft.com/office/powerpoint/2010/main" val="2889128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E2D8714-C5CF-EDAB-6684-15B7959B85E4}"/>
              </a:ext>
            </a:extLst>
          </p:cNvPr>
          <p:cNvSpPr>
            <a:spLocks noGrp="1"/>
          </p:cNvSpPr>
          <p:nvPr>
            <p:ph type="title"/>
          </p:nvPr>
        </p:nvSpPr>
        <p:spPr/>
        <p:txBody>
          <a:bodyPr/>
          <a:lstStyle/>
          <a:p>
            <a:r>
              <a:rPr lang="tr-TR" b="1">
                <a:ea typeface="+mj-lt"/>
                <a:cs typeface="+mj-lt"/>
              </a:rPr>
              <a:t>Otonom Analiz ve Prompt Mühendisliği (Sunan: M. Emir Demirtaş)</a:t>
            </a:r>
            <a:endParaRPr lang="tr-TR" b="1"/>
          </a:p>
        </p:txBody>
      </p:sp>
      <p:sp>
        <p:nvSpPr>
          <p:cNvPr id="3" name="İçerik Yer Tutucusu 2">
            <a:extLst>
              <a:ext uri="{FF2B5EF4-FFF2-40B4-BE49-F238E27FC236}">
                <a16:creationId xmlns:a16="http://schemas.microsoft.com/office/drawing/2014/main" id="{F3FF3B56-EDDE-68DC-8164-B574E0D6F30C}"/>
              </a:ext>
            </a:extLst>
          </p:cNvPr>
          <p:cNvSpPr>
            <a:spLocks noGrp="1"/>
          </p:cNvSpPr>
          <p:nvPr>
            <p:ph idx="1"/>
          </p:nvPr>
        </p:nvSpPr>
        <p:spPr/>
        <p:txBody>
          <a:bodyPr vert="horz" lIns="91440" tIns="45720" rIns="91440" bIns="45720" rtlCol="0" anchor="t">
            <a:normAutofit fontScale="92500" lnSpcReduction="10000"/>
          </a:bodyPr>
          <a:lstStyle/>
          <a:p>
            <a:pPr marL="0" indent="0"/>
            <a:r>
              <a:rPr lang="tr-TR" b="1">
                <a:ea typeface="+mn-lt"/>
                <a:cs typeface="+mn-lt"/>
              </a:rPr>
              <a:t>Görevi:</a:t>
            </a:r>
            <a:r>
              <a:rPr lang="tr-TR">
                <a:ea typeface="+mn-lt"/>
                <a:cs typeface="+mn-lt"/>
              </a:rPr>
              <a:t> Fikirleri mimariye çeviren analitik yapının kurulması. Ses ve metin verilerinin sisteme entegrasyonu; yapay zekanın </a:t>
            </a:r>
            <a:r>
              <a:rPr lang="tr-TR" b="1">
                <a:ea typeface="+mn-lt"/>
                <a:cs typeface="+mn-lt"/>
              </a:rPr>
              <a:t>mimari zafiyetleri tespit etmesi</a:t>
            </a:r>
            <a:r>
              <a:rPr lang="tr-TR">
                <a:ea typeface="+mn-lt"/>
                <a:cs typeface="+mn-lt"/>
              </a:rPr>
              <a:t>, çelişkileri bulması ve bunları şemaya dönüştürecek teknik verilere (</a:t>
            </a:r>
            <a:r>
              <a:rPr lang="tr-TR" b="1">
                <a:ea typeface="+mn-lt"/>
                <a:cs typeface="+mn-lt"/>
              </a:rPr>
              <a:t>JSON</a:t>
            </a:r>
            <a:r>
              <a:rPr lang="tr-TR">
                <a:ea typeface="+mn-lt"/>
                <a:cs typeface="+mn-lt"/>
              </a:rPr>
              <a:t>) dökmesi için programlanması (</a:t>
            </a:r>
            <a:r>
              <a:rPr lang="tr-TR" b="1">
                <a:ea typeface="+mn-lt"/>
                <a:cs typeface="+mn-lt"/>
              </a:rPr>
              <a:t>Prompt Mühendisliği</a:t>
            </a:r>
            <a:r>
              <a:rPr lang="tr-TR">
                <a:ea typeface="+mn-lt"/>
                <a:cs typeface="+mn-lt"/>
              </a:rPr>
              <a:t>).</a:t>
            </a:r>
          </a:p>
          <a:p>
            <a:r>
              <a:rPr lang="tr-TR" b="1">
                <a:ea typeface="+mn-lt"/>
                <a:cs typeface="+mn-lt"/>
              </a:rPr>
              <a:t>Kullanılan Teknolojiler ve Seçim Nedenleri:</a:t>
            </a:r>
            <a:endParaRPr lang="tr-TR">
              <a:ea typeface="+mn-lt"/>
              <a:cs typeface="+mn-lt"/>
            </a:endParaRPr>
          </a:p>
          <a:p>
            <a:pPr lvl="1"/>
            <a:r>
              <a:rPr lang="tr-TR" b="1">
                <a:ea typeface="+mn-lt"/>
                <a:cs typeface="+mn-lt"/>
              </a:rPr>
              <a:t>Deepgram API:</a:t>
            </a:r>
            <a:r>
              <a:rPr lang="tr-TR">
                <a:ea typeface="+mn-lt"/>
                <a:cs typeface="+mn-lt"/>
              </a:rPr>
              <a:t> Türkçe dilindeki teknik toplantı terimlerini en yüksek doğrulukla ve hızla metne dökebildiği için seçilmiştir.</a:t>
            </a:r>
          </a:p>
          <a:p>
            <a:pPr lvl="1"/>
            <a:r>
              <a:rPr lang="tr-TR" b="1">
                <a:ea typeface="+mn-lt"/>
                <a:cs typeface="+mn-lt"/>
              </a:rPr>
              <a:t>Google Gemini API:</a:t>
            </a:r>
            <a:r>
              <a:rPr lang="tr-TR">
                <a:ea typeface="+mn-lt"/>
                <a:cs typeface="+mn-lt"/>
              </a:rPr>
              <a:t> Devasa </a:t>
            </a:r>
            <a:r>
              <a:rPr lang="tr-TR" b="1">
                <a:ea typeface="+mn-lt"/>
                <a:cs typeface="+mn-lt"/>
              </a:rPr>
              <a:t>"Bağlam Penceresi" (Context Window)</a:t>
            </a:r>
            <a:r>
              <a:rPr lang="tr-TR">
                <a:ea typeface="+mn-lt"/>
                <a:cs typeface="+mn-lt"/>
              </a:rPr>
              <a:t> sayesinde; saatler süren uzun toplantı metinlerinin tamamını tek seferde hafızasında tutup bütüncül bir mimari analiz yapabildiği için ana motor olarak belirlenmiştir.</a:t>
            </a:r>
            <a:endParaRPr lang="tr-TR"/>
          </a:p>
          <a:p>
            <a:pPr marL="0" indent="0"/>
            <a:r>
              <a:rPr lang="tr-TR">
                <a:ea typeface="+mn-lt"/>
                <a:cs typeface="+mn-lt"/>
              </a:rPr>
              <a:t>.</a:t>
            </a:r>
            <a:endParaRPr lang="tr-TR"/>
          </a:p>
          <a:p>
            <a:endParaRPr lang="tr-TR" dirty="0"/>
          </a:p>
        </p:txBody>
      </p:sp>
    </p:spTree>
    <p:extLst>
      <p:ext uri="{BB962C8B-B14F-4D97-AF65-F5344CB8AC3E}">
        <p14:creationId xmlns:p14="http://schemas.microsoft.com/office/powerpoint/2010/main" val="101797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65D3987-EDF6-AABC-2B63-1BFA29076BDC}"/>
              </a:ext>
            </a:extLst>
          </p:cNvPr>
          <p:cNvSpPr>
            <a:spLocks noGrp="1"/>
          </p:cNvSpPr>
          <p:nvPr>
            <p:ph type="title"/>
          </p:nvPr>
        </p:nvSpPr>
        <p:spPr/>
        <p:txBody>
          <a:bodyPr>
            <a:normAutofit/>
          </a:bodyPr>
          <a:lstStyle/>
          <a:p>
            <a:r>
              <a:rPr lang="tr-TR" b="1">
                <a:ea typeface="+mj-lt"/>
                <a:cs typeface="+mj-lt"/>
              </a:rPr>
              <a:t>Kalite Güvence ve Sunucu Yayınlama (Sunan: Zıd Alkhanı)</a:t>
            </a:r>
            <a:endParaRPr lang="tr-TR" b="1"/>
          </a:p>
        </p:txBody>
      </p:sp>
      <p:sp>
        <p:nvSpPr>
          <p:cNvPr id="3" name="İçerik Yer Tutucusu 2">
            <a:extLst>
              <a:ext uri="{FF2B5EF4-FFF2-40B4-BE49-F238E27FC236}">
                <a16:creationId xmlns:a16="http://schemas.microsoft.com/office/drawing/2014/main" id="{2BDB8AA7-AA7D-16DE-53F0-0A20FA87481C}"/>
              </a:ext>
            </a:extLst>
          </p:cNvPr>
          <p:cNvSpPr>
            <a:spLocks noGrp="1"/>
          </p:cNvSpPr>
          <p:nvPr>
            <p:ph idx="1"/>
          </p:nvPr>
        </p:nvSpPr>
        <p:spPr/>
        <p:txBody>
          <a:bodyPr vert="horz" lIns="91440" tIns="45720" rIns="91440" bIns="45720" rtlCol="0" anchor="t">
            <a:normAutofit fontScale="92500" lnSpcReduction="10000"/>
          </a:bodyPr>
          <a:lstStyle/>
          <a:p>
            <a:pPr marL="0" indent="0"/>
            <a:r>
              <a:rPr lang="tr-TR" b="1">
                <a:ea typeface="+mn-lt"/>
                <a:cs typeface="+mn-lt"/>
              </a:rPr>
              <a:t>Görevi:</a:t>
            </a:r>
            <a:r>
              <a:rPr lang="tr-TR">
                <a:ea typeface="+mn-lt"/>
                <a:cs typeface="+mn-lt"/>
              </a:rPr>
              <a:t> Ekibin yazdığı kodların hatasız birleştirilmesi, sistemin </a:t>
            </a:r>
            <a:r>
              <a:rPr lang="tr-TR" b="1">
                <a:ea typeface="+mn-lt"/>
                <a:cs typeface="+mn-lt"/>
              </a:rPr>
              <a:t>performans limitlerini</a:t>
            </a:r>
            <a:r>
              <a:rPr lang="tr-TR">
                <a:ea typeface="+mn-lt"/>
                <a:cs typeface="+mn-lt"/>
              </a:rPr>
              <a:t> zorlayan stres testlerinin yapılması ve projenin yerel ortamdan çıkarılıp dünya çapında erişilebilir bulut sunuculara yüklenmesi.</a:t>
            </a:r>
          </a:p>
          <a:p>
            <a:r>
              <a:rPr lang="tr-TR" b="1">
                <a:ea typeface="+mn-lt"/>
                <a:cs typeface="+mn-lt"/>
              </a:rPr>
              <a:t>Kullanılan Teknolojiler ve Seçim Nedenleri:</a:t>
            </a:r>
            <a:endParaRPr lang="tr-TR">
              <a:ea typeface="+mn-lt"/>
              <a:cs typeface="+mn-lt"/>
            </a:endParaRPr>
          </a:p>
          <a:p>
            <a:r>
              <a:rPr lang="tr-TR" b="1">
                <a:ea typeface="+mn-lt"/>
                <a:cs typeface="+mn-lt"/>
              </a:rPr>
              <a:t>Jest / Cypress (Test Otomasyonu):</a:t>
            </a:r>
            <a:r>
              <a:rPr lang="tr-TR">
                <a:ea typeface="+mn-lt"/>
                <a:cs typeface="+mn-lt"/>
              </a:rPr>
              <a:t> Ekranda aynı anda 100’den fazla sınıf oluştuğunda sistemin dayanıklılığını ölçmek ve çökme risklerini otomatize testlerle önlemek için kullanılacaktır.</a:t>
            </a:r>
          </a:p>
          <a:p>
            <a:r>
              <a:rPr lang="tr-TR" b="1">
                <a:ea typeface="+mn-lt"/>
                <a:cs typeface="+mn-lt"/>
              </a:rPr>
              <a:t>GitHub Actions &amp; Docker (CI/CD):</a:t>
            </a:r>
            <a:r>
              <a:rPr lang="tr-TR">
                <a:ea typeface="+mn-lt"/>
                <a:cs typeface="+mn-lt"/>
              </a:rPr>
              <a:t> Dört kişilik ekibin kodlarının çakışmasını önlemek ve yazılan güncel kodların bulut sunuculara (Vercel/AWS vb.) hatasız, otomatik aktarılmasını sağlamak için tercih edilmiştir.</a:t>
            </a:r>
          </a:p>
          <a:p>
            <a:pPr marL="0" indent="0"/>
            <a:endParaRPr lang="tr-TR" dirty="0"/>
          </a:p>
          <a:p>
            <a:endParaRPr lang="tr-TR" dirty="0"/>
          </a:p>
        </p:txBody>
      </p:sp>
    </p:spTree>
    <p:extLst>
      <p:ext uri="{BB962C8B-B14F-4D97-AF65-F5344CB8AC3E}">
        <p14:creationId xmlns:p14="http://schemas.microsoft.com/office/powerpoint/2010/main" val="3036171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descr="metin, ekran görüntüsü, yazılım, multimedya yazılımı içeren bir resim&#10;&#10;Yapay zeka tarafından oluşturulmuş içerik yanlış olabilir.">
            <a:extLst>
              <a:ext uri="{FF2B5EF4-FFF2-40B4-BE49-F238E27FC236}">
                <a16:creationId xmlns:a16="http://schemas.microsoft.com/office/drawing/2014/main" id="{EBC469D0-BAB0-1FE4-43DC-7AA15F1B063A}"/>
              </a:ext>
            </a:extLst>
          </p:cNvPr>
          <p:cNvPicPr>
            <a:picLocks noChangeAspect="1"/>
          </p:cNvPicPr>
          <p:nvPr/>
        </p:nvPicPr>
        <p:blipFill>
          <a:blip r:embed="rId2"/>
          <a:stretch>
            <a:fillRect/>
          </a:stretch>
        </p:blipFill>
        <p:spPr>
          <a:xfrm>
            <a:off x="334370" y="180347"/>
            <a:ext cx="11556755" cy="6480558"/>
          </a:xfrm>
          <a:prstGeom prst="rect">
            <a:avLst/>
          </a:prstGeom>
        </p:spPr>
      </p:pic>
    </p:spTree>
    <p:extLst>
      <p:ext uri="{BB962C8B-B14F-4D97-AF65-F5344CB8AC3E}">
        <p14:creationId xmlns:p14="http://schemas.microsoft.com/office/powerpoint/2010/main" val="2162650648"/>
      </p:ext>
    </p:extLst>
  </p:cSld>
  <p:clrMapOvr>
    <a:masterClrMapping/>
  </p:clrMapOvr>
</p:sld>
</file>

<file path=ppt/theme/theme1.xml><?xml version="1.0" encoding="utf-8"?>
<a:theme xmlns:a="http://schemas.openxmlformats.org/drawingml/2006/main" name="Ofis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is">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Geniş ekran</PresentationFormat>
  <Paragraphs>0</Paragraphs>
  <Slides>9</Slides>
  <Notes>0</Notes>
  <HiddenSlides>0</HiddenSlides>
  <MMClips>0</MMClips>
  <ScaleCrop>false</ScaleCrop>
  <HeadingPairs>
    <vt:vector size="4" baseType="variant">
      <vt:variant>
        <vt:lpstr>Tema</vt:lpstr>
      </vt:variant>
      <vt:variant>
        <vt:i4>1</vt:i4>
      </vt:variant>
      <vt:variant>
        <vt:lpstr>Slayt Başlıkları</vt:lpstr>
      </vt:variant>
      <vt:variant>
        <vt:i4>9</vt:i4>
      </vt:variant>
    </vt:vector>
  </HeadingPairs>
  <TitlesOfParts>
    <vt:vector size="10" baseType="lpstr">
      <vt:lpstr>Ofis Teması</vt:lpstr>
      <vt:lpstr>Proje Adı: Yapay Zeka Destekli Otonom UML Asistanı</vt:lpstr>
      <vt:lpstr>Problem Tanımı</vt:lpstr>
      <vt:lpstr> Çözüm Yaklaşımımız (Proje Kapsamı)</vt:lpstr>
      <vt:lpstr>Çözüm Yaklaşımımız(Akış)</vt:lpstr>
      <vt:lpstr>2. Emir Avcı: Backend ve Ağ Altyapısı</vt:lpstr>
      <vt:lpstr>Kullanıcı Deneyimi (UX) ve Dinamik Tuval (Sunan: Hüseyin Altıparmak)</vt:lpstr>
      <vt:lpstr>Otonom Analiz ve Prompt Mühendisliği (Sunan: M. Emir Demirtaş)</vt:lpstr>
      <vt:lpstr>Kalite Güvence ve Sunucu Yayınlama (Sunan: Zıd Alkhanı)</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107</cp:revision>
  <dcterms:created xsi:type="dcterms:W3CDTF">2026-03-25T17:05:38Z</dcterms:created>
  <dcterms:modified xsi:type="dcterms:W3CDTF">2026-03-26T11:21:40Z</dcterms:modified>
</cp:coreProperties>
</file>